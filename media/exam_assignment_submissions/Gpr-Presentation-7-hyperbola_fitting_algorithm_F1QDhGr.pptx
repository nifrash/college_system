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CE77-2C27-BF64-D374-CB21BA5BA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CD24C-2BD9-6664-F048-19F741EA2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392FF-0CAB-0B64-FA27-B174B67A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51AFB-BB52-4899-B151-4A136793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70967-6E96-05DB-FFF7-BF90234B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9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B611D-E907-EDE9-8F32-CDBD0800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6274C-7E29-5281-6E29-507D0942F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B0275-524C-C312-16A4-8942A85A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521ED-DDDE-5E1C-3BE9-8719A5A45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0217A-973A-D345-0190-DFA7C5B6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16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C1A1-97CC-7905-C736-C1DFB3BA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4F291-06EB-3CC5-9F69-9B0EFCBE7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FC96F-5B3D-4286-B7E6-C63EA91F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E7FFF-F0E5-DE62-1CE1-23A4A845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E7DB9-3DFA-E594-C475-B2078C77A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39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8291B-2D32-018D-2477-91D3648D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CE44A-4D48-5E63-394D-1EDD2C11F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A1EE0-042E-719E-57FB-C9EF4E8EE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2511D-2CC1-9EF1-1C66-668B6B3D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A26DE-A643-EF65-AC43-6B398C40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D290E-A57E-86D5-A11A-77F55D73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51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E634-EA56-99F4-75D3-B2911DE0F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27824-44D9-90BB-3B20-39C9DDE74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9A34A-82A8-FB19-4F6F-89339C5BD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F09955-3E27-1727-102B-D283D5CC6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908630-BF2B-2022-CB94-5EE11B0F37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E45494-814E-984D-37F1-B1943F7B3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DF4E2-5F2E-9AF4-DB82-05A251A3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B9125-12AD-8939-BDF4-C49F5E8B4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2F07-242D-7641-7933-2829295B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80931-1BCC-3D7C-4A1F-FD8174A6C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E107A-49A4-44AA-2020-2AC9AC20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82D52-FDEE-C79D-DE26-1DA700F4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3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17BE8D-9F03-15F9-119E-C5EE3E46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FB791E-FF75-419D-AA49-43AC6854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58FA8-03B3-9DC4-2E2D-DB96C56E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2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2090-DCF1-7806-5C50-6175AD9CB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5153F-492E-08F9-03BA-ED06A24A6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0A2B8-694F-B76F-8A58-DDDEA70D8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551A2-9931-0984-5B65-4E5BA4B0A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3B78A-CF7F-3A3F-81D4-986BBFFCB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7C501-D233-75B7-F53B-AB175426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3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FA71-DD52-96FE-5636-EBEBE1EA3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4A361-F7DC-5594-E194-C11EC3E73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91B18-E008-447D-E73B-7BD5436C1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82E01-7D55-3F32-9C81-E169254EE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2CDA5-451F-44A6-C91D-C450182E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78526-5EAC-0010-992E-1210FBD5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86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44D03-77F5-DA03-A321-6260B486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36BB1-B73A-B494-C44F-1882D56D1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6F770-ED49-06C8-5CDB-532357824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C21FA-EE51-849B-5392-E80A0BB7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8E89-1BB0-9901-A2EC-7738C8818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1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7D1EFA-A730-535A-2605-F39FF3D04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4398E-9D30-C47A-160A-20ED689F2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72A28-7687-E99A-590A-723C2D39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4C155-C44B-91C9-91DF-A9BD074D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9B995-58A0-84DE-6E88-83764E2F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8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85803-79F9-2F0E-7793-7E2E3B5A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DE14D-3518-5D7F-24F7-7AEF5600C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77B5E-CE81-B412-C2C4-0D987802E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95FDE-C8F8-4C4B-920B-1707D067663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4A808-BB39-7645-BD11-1BD383848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4F1B6-7670-5A42-B8A6-93570FF66E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45768-F991-48FB-B4D9-AC2C08BE135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C7A8C-CC34-ACA9-AD8E-DF67F243AB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987800" y="63500"/>
            <a:ext cx="42418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This Email / Document has been classified as Restricted by Mohamed Nifrash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4820CE-DD5B-D5AA-F591-DABBAEC1F48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13425" y="6642100"/>
            <a:ext cx="59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392496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B8EDC8-27A7-911A-E295-7EA17ADEA39B}"/>
              </a:ext>
            </a:extLst>
          </p:cNvPr>
          <p:cNvSpPr txBox="1"/>
          <p:nvPr/>
        </p:nvSpPr>
        <p:spPr>
          <a:xfrm>
            <a:off x="696086" y="473702"/>
            <a:ext cx="361873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Python hyperbola fitting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B2E5AB-6D83-E267-87FF-06D4FADE5C8B}"/>
                  </a:ext>
                </a:extLst>
              </p:cNvPr>
              <p:cNvSpPr txBox="1"/>
              <p:nvPr/>
            </p:nvSpPr>
            <p:spPr>
              <a:xfrm>
                <a:off x="696086" y="1224385"/>
                <a:ext cx="9344025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Python hyperbola fitting algorithm</a:t>
                </a:r>
                <a:r>
                  <a:rPr lang="en-US" dirty="0"/>
                  <a:t> for GPR B-scan depth estimation.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It does: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Generate synthetic hyperbola points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Add noise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Fit the hyperbola equation </a:t>
                </a:r>
                <a:br>
                  <a:rPr lang="en-US" dirty="0"/>
                </a:b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Estimate: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target depth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target horizontal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wave velocity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B2E5AB-6D83-E267-87FF-06D4FADE5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86" y="1224385"/>
                <a:ext cx="9344025" cy="3139321"/>
              </a:xfrm>
              <a:prstGeom prst="rect">
                <a:avLst/>
              </a:prstGeom>
              <a:blipFill>
                <a:blip r:embed="rId2"/>
                <a:stretch>
                  <a:fillRect l="-587" t="-971" b="-2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3189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AD9125-E87F-1B53-3AA5-4DD569A566DE}"/>
                  </a:ext>
                </a:extLst>
              </p:cNvPr>
              <p:cNvSpPr txBox="1"/>
              <p:nvPr/>
            </p:nvSpPr>
            <p:spPr>
              <a:xfrm>
                <a:off x="788670" y="645421"/>
                <a:ext cx="11199114" cy="2274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The algorithm uses this equation: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Then it finds the best values of: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by minimizing the difference between the measured B-scan hyperbola points and the mathematical hyperbola model.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AD9125-E87F-1B53-3AA5-4DD569A56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70" y="645421"/>
                <a:ext cx="11199114" cy="2274854"/>
              </a:xfrm>
              <a:prstGeom prst="rect">
                <a:avLst/>
              </a:prstGeom>
              <a:blipFill>
                <a:blip r:embed="rId2"/>
                <a:stretch>
                  <a:fillRect l="-435" t="-1340" b="-3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C1CE3FE-B067-4169-90D8-C64212E8A586}"/>
              </a:ext>
            </a:extLst>
          </p:cNvPr>
          <p:cNvSpPr txBox="1"/>
          <p:nvPr/>
        </p:nvSpPr>
        <p:spPr>
          <a:xfrm>
            <a:off x="788670" y="3137053"/>
            <a:ext cx="110345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“The algorithm fits the theoretical GPR hyperbola equation to the detected reflection curve in the B-scan. From the best-fitting curve, it estimates the target depth, lateral position, and wave velocity.”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This is the key upgrade from </a:t>
            </a:r>
            <a:r>
              <a:rPr lang="en-US" b="1" dirty="0"/>
              <a:t>forward simulation</a:t>
            </a:r>
            <a:r>
              <a:rPr lang="en-US" dirty="0"/>
              <a:t> to </a:t>
            </a:r>
            <a:r>
              <a:rPr lang="en-US" b="1" dirty="0"/>
              <a:t>inverse depth estimation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601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8DBF3A-686F-CCE1-0370-1A78D024603B}"/>
              </a:ext>
            </a:extLst>
          </p:cNvPr>
          <p:cNvSpPr txBox="1"/>
          <p:nvPr/>
        </p:nvSpPr>
        <p:spPr>
          <a:xfrm>
            <a:off x="715518" y="519422"/>
            <a:ext cx="389305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Automatic depth estimation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87B3B-DCC8-A9D6-B4A5-E7EFEF7438D2}"/>
              </a:ext>
            </a:extLst>
          </p:cNvPr>
          <p:cNvSpPr txBox="1"/>
          <p:nvPr/>
        </p:nvSpPr>
        <p:spPr>
          <a:xfrm>
            <a:off x="715518" y="1211687"/>
            <a:ext cx="105590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Automatic depth estimation code</a:t>
            </a:r>
            <a:r>
              <a:rPr lang="en-US" dirty="0"/>
              <a:t>. It generates a synthetic B-scan, automatically detects the hyperbola peak points, fits the hyperbola, and estimates depth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C932ED-BD14-6CA7-634B-C270B5DC6D09}"/>
                  </a:ext>
                </a:extLst>
              </p:cNvPr>
              <p:cNvSpPr txBox="1"/>
              <p:nvPr/>
            </p:nvSpPr>
            <p:spPr>
              <a:xfrm>
                <a:off x="587502" y="2252319"/>
                <a:ext cx="8382762" cy="3659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How this works</a:t>
                </a:r>
              </a:p>
              <a:p>
                <a:pPr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The code does four main things: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Generates a B-scan</a:t>
                </a:r>
                <a:r>
                  <a:rPr lang="en-US" dirty="0"/>
                  <a:t> for a buried target.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Detects strong reflection peaks</a:t>
                </a:r>
                <a:r>
                  <a:rPr lang="en-US" dirty="0"/>
                  <a:t> in each antenna trace.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Fits the hyperbola equation</a:t>
                </a:r>
                <a:r>
                  <a:rPr lang="en-US" dirty="0"/>
                  <a:t> to those detected points.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Estimates depth, target position, and velocity</a:t>
                </a:r>
                <a:r>
                  <a:rPr lang="en-US" dirty="0"/>
                  <a:t>. </a:t>
                </a:r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The key equation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The fitted parameter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is the estimated depth.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C932ED-BD14-6CA7-634B-C270B5DC6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02" y="2252319"/>
                <a:ext cx="8382762" cy="3659848"/>
              </a:xfrm>
              <a:prstGeom prst="rect">
                <a:avLst/>
              </a:prstGeom>
              <a:blipFill>
                <a:blip r:embed="rId2"/>
                <a:stretch>
                  <a:fillRect l="-654" t="-666" b="-1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88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FE88AB-54EE-7D5A-0DF8-BA2875F4997C}"/>
              </a:ext>
            </a:extLst>
          </p:cNvPr>
          <p:cNvSpPr txBox="1"/>
          <p:nvPr/>
        </p:nvSpPr>
        <p:spPr>
          <a:xfrm>
            <a:off x="469392" y="327398"/>
            <a:ext cx="390144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B-scan interpretation 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9D20F-1C2A-8A12-B360-D15DA7B0C4BF}"/>
              </a:ext>
            </a:extLst>
          </p:cNvPr>
          <p:cNvSpPr txBox="1"/>
          <p:nvPr/>
        </p:nvSpPr>
        <p:spPr>
          <a:xfrm>
            <a:off x="578358" y="1111103"/>
            <a:ext cx="11290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of the B-scan interpretation stage is to extract meaningful subsurface information from the generated or measured B-scan image.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C78639-547C-434B-E485-29D35EC9F60B}"/>
              </a:ext>
            </a:extLst>
          </p:cNvPr>
          <p:cNvSpPr txBox="1"/>
          <p:nvPr/>
        </p:nvSpPr>
        <p:spPr>
          <a:xfrm>
            <a:off x="578358" y="1888343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Specifically, the methodology aims to estimate: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buried object depth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buried object lateral position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propagation velocity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 layer boundaries 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observed hyperbolic signatures.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89CD6-2845-7671-EFE1-782BE1D5FF2B}"/>
              </a:ext>
            </a:extLst>
          </p:cNvPr>
          <p:cNvSpPr txBox="1"/>
          <p:nvPr/>
        </p:nvSpPr>
        <p:spPr>
          <a:xfrm>
            <a:off x="7212330" y="2067401"/>
            <a:ext cx="2416302" cy="36933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B-Scan Image 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Preprocessing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Hyperbola Detection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Feature Extraction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Hyperbola Fitting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Depth Estimation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Target Localization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9A6B78-E829-B0D7-53A7-5E498395B920}"/>
              </a:ext>
            </a:extLst>
          </p:cNvPr>
          <p:cNvSpPr txBox="1"/>
          <p:nvPr/>
        </p:nvSpPr>
        <p:spPr>
          <a:xfrm>
            <a:off x="7098030" y="1698069"/>
            <a:ext cx="2416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Workflow</a:t>
            </a:r>
          </a:p>
        </p:txBody>
      </p:sp>
    </p:spTree>
    <p:extLst>
      <p:ext uri="{BB962C8B-B14F-4D97-AF65-F5344CB8AC3E}">
        <p14:creationId xmlns:p14="http://schemas.microsoft.com/office/powerpoint/2010/main" val="4047557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Nifrash</dc:creator>
  <cp:lastModifiedBy>Mohamed Nifrash</cp:lastModifiedBy>
  <cp:revision>1</cp:revision>
  <dcterms:created xsi:type="dcterms:W3CDTF">2026-06-07T08:29:51Z</dcterms:created>
  <dcterms:modified xsi:type="dcterms:W3CDTF">2026-06-07T14:22:54Z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9be935f-202b-4556-83e6-b136e71ce33b_Enabled">
    <vt:lpwstr>true</vt:lpwstr>
  </property>
  <property fmtid="{D5CDD505-2E9C-101B-9397-08002B2CF9AE}" pid="3" name="MSIP_Label_f9be935f-202b-4556-83e6-b136e71ce33b_SetDate">
    <vt:lpwstr>2026-06-07T14:22:32Z</vt:lpwstr>
  </property>
  <property fmtid="{D5CDD505-2E9C-101B-9397-08002B2CF9AE}" pid="4" name="MSIP_Label_f9be935f-202b-4556-83e6-b136e71ce33b_Method">
    <vt:lpwstr>Privileged</vt:lpwstr>
  </property>
  <property fmtid="{D5CDD505-2E9C-101B-9397-08002B2CF9AE}" pid="5" name="MSIP_Label_f9be935f-202b-4556-83e6-b136e71ce33b_Name">
    <vt:lpwstr>Restricted</vt:lpwstr>
  </property>
  <property fmtid="{D5CDD505-2E9C-101B-9397-08002B2CF9AE}" pid="6" name="MSIP_Label_f9be935f-202b-4556-83e6-b136e71ce33b_SiteId">
    <vt:lpwstr>1b589bdd-af9b-40f9-af14-7df27f6b4206</vt:lpwstr>
  </property>
  <property fmtid="{D5CDD505-2E9C-101B-9397-08002B2CF9AE}" pid="7" name="MSIP_Label_f9be935f-202b-4556-83e6-b136e71ce33b_ActionId">
    <vt:lpwstr>aa98cfaf-922c-4c73-9910-56e74cdd8b1e</vt:lpwstr>
  </property>
  <property fmtid="{D5CDD505-2E9C-101B-9397-08002B2CF9AE}" pid="8" name="MSIP_Label_f9be935f-202b-4556-83e6-b136e71ce33b_ContentBits">
    <vt:lpwstr>3</vt:lpwstr>
  </property>
  <property fmtid="{D5CDD505-2E9C-101B-9397-08002B2CF9AE}" pid="9" name="MSIP_Label_f9be935f-202b-4556-83e6-b136e71ce33b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Restricted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This Email / Document has been classified as Restricted by Mohamed Nifrash</vt:lpwstr>
  </property>
</Properties>
</file>