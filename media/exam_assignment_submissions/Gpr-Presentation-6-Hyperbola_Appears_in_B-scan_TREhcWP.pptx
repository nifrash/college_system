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5:40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5:5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0 112 24575,'0'-5'0,"5"-1"0,1-3 0,4-1 0,0-3 0,-1-4 0,-3-3 0,3 3 0,-1 3-8191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5:5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24575,'0'-4'0,"0"-6"0,0-10 0,0-6 0,4-2 0,2-2 0,-1 1 0,4 1 0,-1 4-8191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5:5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64 24575,'0'-4'0,"0"-6"0,-4-2 0,-2-2 0,-4 1 0,0 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5:57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62 24575,'0'-5'0,"-4"-1"0,-2-3 0,1-6 0,-4 1 0,0 2-8191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5:5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46 231 24575,'0'-4'0,"0"-6"0,0-6 0,0-4 0,-4 2 0,-2-2 0,1 0 0,1-2 0,1-2 0,-3 4 0,-1 1 0,1-1 0,1 3-8191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5:5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5:5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26 173 24575,'0'-4'0,"-4"-2"0,-1-4 0,-1-4 0,2-5 0,1-3 0,1-2 0,1-2 0,1 0 0,0 4-8191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5:5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7T07:56:01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24575,'0'5'0,"0"5"0,-4 1 0,-2 3 0,0 4 0,-2-2 0,-5 1 0,-5-2 0,1 0 0,0-2 0,1 1 0,5 3 0,-1-3 0,2 2 0,-2-2 0,1 1 0,3 1 0,2 0-8191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6966-56B7-B663-38D1-37BC8EBF1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1D8A9-0268-B75E-0815-33B7920A3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9FF7C-C278-A282-E2EA-101E1173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EBFE7-0023-CC1F-E4C1-78BD89A4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FF0B9-32DD-4AB7-F455-16190A018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96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84B6-C3CA-6C9F-1BDE-FCAFF94D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7547C-ED53-7775-F4B7-FD3D1A264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C5815-D4B8-2E99-3A62-49816E36D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A8D5-E781-6963-0507-A3A8B932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56D29-CA0D-F3B1-8E4D-708CE46C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42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0D6A-3487-9309-94AF-DF328450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9F30B-3D5B-77A6-C055-066C15AAE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0A97A-52A1-FC2C-672B-BFD53A8F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53406-C2D3-30E3-F494-E1CE6952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C67D7-9B55-966E-9BA1-C4EDE8FE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2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075C8-ECBC-7FC6-E9AD-B1295CAD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6E3A2-E33B-5A34-996F-71D03FE6C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34752-A323-1E20-5FF0-914A4666F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CE126-A961-3E5F-3370-8D2C5852E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9C56C-7C07-9C52-6D27-4A8BF194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9C1E1-708A-88E7-71D0-2F4195A1A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83AC-44BD-355D-9534-63A5A776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E6D37-159C-998C-6019-708BC347F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F3BB6-9C95-681A-BF57-176F96E49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877DC-FC5D-9F7A-F3E1-805821864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DBC93-4697-2485-8B20-D0AE91495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3F23D-D3F3-7C76-4948-48EA80BC7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3E2FA-DC6D-F9B2-9D3C-E7225493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0185E-7200-3421-F44B-AA1FB349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6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CC4C-68F7-CB71-D90B-85922B09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A5C78F-47AC-AB44-9486-F910458D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39954-4A1C-D091-009E-C11D5FA74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AE6CF-7536-B677-AEE0-55129432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81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884BB-0D00-C5F6-8132-2E01DF65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DF343-677F-B32F-090C-C5A0EF19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A400A-4A06-D704-9DC7-22B6F5AA1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51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4C33-D6C7-648E-2AD0-A7BA6F95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90014-0BDA-0EBD-0F3F-6CCAF38B4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DDDA7-7BAA-C975-9412-E5E792B51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3D30D-7D72-7C1D-D490-732A39A6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3807D-0BE8-26B0-EF4C-B0C616EC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B5FD1-F5FE-857B-BE27-0C574408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3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2FA58-E87A-A245-F528-451D7F01F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2E468B-B877-05DD-474E-4155257D5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93CBC-9BD8-7674-64FD-36A08A817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7E762-0234-CF5C-0050-2D77D8AF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C2BB2-1E36-B62C-9BBC-E16AEF551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E37DC-8F6A-55AE-E03A-F08651A1C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1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8E93-8209-F696-A7C4-CC860063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E8B3F-3118-3C27-2347-9D9050F20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22672-33BC-CF9D-9B18-783A442C1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A7DAD-2E3A-8ADA-3F0B-4B32586F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5AA6F-4FEF-CB53-2407-8ABBC9AE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97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4FB3D1-223F-39EF-32B0-C293F6344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38AFC-1CD8-0577-A17A-2A09E6C9F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9692E-2780-11EC-ED89-F1B17237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94F95-7220-6D6F-F538-11EDBDDF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8A020-5B42-87D3-528E-567EF6C62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0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8BE34-8BC7-3CE2-77A9-47875AD1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00280-C345-5E13-20ED-BCB4794A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8C110-0E19-3508-C563-568DAA774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82A23-DA39-4C4F-8A0F-E483246405A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DE97D-4A5F-13A9-05A0-D729850C5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8B801-744A-FFA5-C741-6623FD73E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AD0DB-A787-4709-9672-10577982ECF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5C82DC-9670-E099-9527-9FEF015FFE0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3987800" y="63500"/>
            <a:ext cx="42418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This Email / Document has been classified as Restricted by Mohamed Nifrash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1C33D9-C17E-4360-ACAC-07334544F90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13425" y="6642100"/>
            <a:ext cx="59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337105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customXml" Target="../ink/ink10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6C11F0-0D14-E09A-5E3C-C63D2653B768}"/>
              </a:ext>
            </a:extLst>
          </p:cNvPr>
          <p:cNvSpPr txBox="1"/>
          <p:nvPr/>
        </p:nvSpPr>
        <p:spPr>
          <a:xfrm>
            <a:off x="857490" y="685653"/>
            <a:ext cx="4003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Hyperbola Appears in B-scan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C95A0-09D5-C122-65BE-80ECE55D01DC}"/>
              </a:ext>
            </a:extLst>
          </p:cNvPr>
          <p:cNvSpPr txBox="1"/>
          <p:nvPr/>
        </p:nvSpPr>
        <p:spPr>
          <a:xfrm>
            <a:off x="994650" y="1528463"/>
            <a:ext cx="609447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Surface</a:t>
            </a:r>
            <a:b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────────────────────</a:t>
            </a:r>
            <a:b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● Buried object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59FA2-5FC7-326A-B8BC-DF3762538F40}"/>
              </a:ext>
            </a:extLst>
          </p:cNvPr>
          <p:cNvSpPr txBox="1"/>
          <p:nvPr/>
        </p:nvSpPr>
        <p:spPr>
          <a:xfrm>
            <a:off x="857490" y="330641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Now the antenna moves: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D43633-F5DA-5062-5361-1F241412AC9D}"/>
              </a:ext>
            </a:extLst>
          </p:cNvPr>
          <p:cNvSpPr txBox="1"/>
          <p:nvPr/>
        </p:nvSpPr>
        <p:spPr>
          <a:xfrm>
            <a:off x="930642" y="3884042"/>
            <a:ext cx="609447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x1 → x2 → x3 → x4 → x5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FE2B54-BD19-1C65-8BDA-FD4ECAF76DEF}"/>
              </a:ext>
            </a:extLst>
          </p:cNvPr>
          <p:cNvSpPr txBox="1"/>
          <p:nvPr/>
        </p:nvSpPr>
        <p:spPr>
          <a:xfrm>
            <a:off x="857490" y="4555127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At each position: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wave travels to object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reflects back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returns to antenna</a:t>
            </a:r>
          </a:p>
        </p:txBody>
      </p:sp>
    </p:spTree>
    <p:extLst>
      <p:ext uri="{BB962C8B-B14F-4D97-AF65-F5344CB8AC3E}">
        <p14:creationId xmlns:p14="http://schemas.microsoft.com/office/powerpoint/2010/main" val="2091903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9C583F-0F14-E518-45AF-AC90EC1DAFAD}"/>
              </a:ext>
            </a:extLst>
          </p:cNvPr>
          <p:cNvSpPr txBox="1"/>
          <p:nvPr/>
        </p:nvSpPr>
        <p:spPr>
          <a:xfrm>
            <a:off x="1319022" y="62915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Important Physical Idea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1C0284-46FB-F80B-6A71-1A27D54F32DA}"/>
              </a:ext>
            </a:extLst>
          </p:cNvPr>
          <p:cNvSpPr txBox="1"/>
          <p:nvPr/>
        </p:nvSpPr>
        <p:spPr>
          <a:xfrm>
            <a:off x="1319022" y="1120676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travel distance changes with antenna position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At center position</a:t>
            </a:r>
          </a:p>
          <a:p>
            <a:pPr rtl="0">
              <a:buNone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Antenna directly above object</a:t>
            </a:r>
          </a:p>
          <a:p>
            <a:pPr rtl="0">
              <a:buNone/>
            </a:pPr>
            <a:endParaRPr lang="en-US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US" dirty="0"/>
              <a:t>Distance is shortest. So: minimum travel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6D7BC-3A27-DD69-63B8-161F2EA338F6}"/>
              </a:ext>
            </a:extLst>
          </p:cNvPr>
          <p:cNvSpPr txBox="1"/>
          <p:nvPr/>
        </p:nvSpPr>
        <p:spPr>
          <a:xfrm>
            <a:off x="1319022" y="3138392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Away from center</a:t>
            </a:r>
          </a:p>
          <a:p>
            <a:pPr rtl="0">
              <a:buNone/>
            </a:pPr>
            <a:r>
              <a:rPr lang="en-US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Antenna moves sideways</a:t>
            </a:r>
          </a:p>
          <a:p>
            <a:pPr rtl="0">
              <a:buNone/>
            </a:pPr>
            <a:endParaRPr lang="en-US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 increases. So: travel time increases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AA9BBDC-09A3-6DE0-9E9F-285E746998D1}"/>
                  </a:ext>
                </a:extLst>
              </p14:cNvPr>
              <p14:cNvContentPartPr/>
              <p14:nvPr/>
            </p14:nvContentPartPr>
            <p14:xfrm>
              <a:off x="5285304" y="5906664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AA9BBDC-09A3-6DE0-9E9F-285E746998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76304" y="589802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AE12AB5-B23E-6A6A-0699-6998A3867E9E}"/>
              </a:ext>
            </a:extLst>
          </p:cNvPr>
          <p:cNvSpPr txBox="1"/>
          <p:nvPr/>
        </p:nvSpPr>
        <p:spPr>
          <a:xfrm>
            <a:off x="3202686" y="495590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______/____\______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B42B0B2-BB66-D30A-3A67-15DBD9164163}"/>
                  </a:ext>
                </a:extLst>
              </p14:cNvPr>
              <p14:cNvContentPartPr/>
              <p14:nvPr/>
            </p14:nvContentPartPr>
            <p14:xfrm>
              <a:off x="4004784" y="5190264"/>
              <a:ext cx="22680" cy="40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B42B0B2-BB66-D30A-3A67-15DBD91641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95784" y="5181624"/>
                <a:ext cx="403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A8D4412-756D-69C4-AFF6-C9055A6483FD}"/>
                  </a:ext>
                </a:extLst>
              </p14:cNvPr>
              <p14:cNvContentPartPr/>
              <p14:nvPr/>
            </p14:nvContentPartPr>
            <p14:xfrm>
              <a:off x="4068864" y="4948344"/>
              <a:ext cx="12240" cy="72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A8D4412-756D-69C4-AFF6-C9055A6483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60224" y="4939344"/>
                <a:ext cx="298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8E3D674-514F-E8B3-D70C-23AA180EC4E3}"/>
                  </a:ext>
                </a:extLst>
              </p14:cNvPr>
              <p14:cNvContentPartPr/>
              <p14:nvPr/>
            </p14:nvContentPartPr>
            <p14:xfrm>
              <a:off x="4387464" y="5271264"/>
              <a:ext cx="11160" cy="23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8E3D674-514F-E8B3-D70C-23AA180EC4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78464" y="5262264"/>
                <a:ext cx="288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2BCFAC5-E050-DD3E-2510-548DE6F7DA04}"/>
                  </a:ext>
                </a:extLst>
              </p14:cNvPr>
              <p14:cNvContentPartPr/>
              <p14:nvPr/>
            </p14:nvContentPartPr>
            <p14:xfrm>
              <a:off x="4322304" y="5125824"/>
              <a:ext cx="12240" cy="22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2BCFAC5-E050-DD3E-2510-548DE6F7DA0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13304" y="5117184"/>
                <a:ext cx="298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A4F45DC-75A3-EEA6-8049-1A590F6F7C8A}"/>
                  </a:ext>
                </a:extLst>
              </p14:cNvPr>
              <p14:cNvContentPartPr/>
              <p14:nvPr/>
            </p14:nvContentPartPr>
            <p14:xfrm>
              <a:off x="4262544" y="4936824"/>
              <a:ext cx="16920" cy="83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A4F45DC-75A3-EEA6-8049-1A590F6F7C8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53544" y="4928184"/>
                <a:ext cx="3456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22CBBE7-6B20-D584-EACA-16DC96716DC8}"/>
              </a:ext>
            </a:extLst>
          </p:cNvPr>
          <p:cNvGrpSpPr/>
          <p:nvPr/>
        </p:nvGrpSpPr>
        <p:grpSpPr>
          <a:xfrm>
            <a:off x="4106664" y="4727304"/>
            <a:ext cx="127080" cy="137880"/>
            <a:chOff x="4106664" y="4727304"/>
            <a:chExt cx="12708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023849-C555-4544-0F0B-5AE283603060}"/>
                    </a:ext>
                  </a:extLst>
                </p14:cNvPr>
                <p14:cNvContentPartPr/>
                <p14:nvPr/>
              </p14:nvContentPartPr>
              <p14:xfrm>
                <a:off x="4169664" y="4745664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023849-C555-4544-0F0B-5AE2836030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60664" y="47366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D1760B-39C0-9544-35C2-8982B5148332}"/>
                    </a:ext>
                  </a:extLst>
                </p14:cNvPr>
                <p14:cNvContentPartPr/>
                <p14:nvPr/>
              </p14:nvContentPartPr>
              <p14:xfrm>
                <a:off x="4224024" y="4793184"/>
                <a:ext cx="9720" cy="62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D1760B-39C0-9544-35C2-8982B514833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15384" y="4784184"/>
                  <a:ext cx="27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BEC2BAE-EF2B-2FB9-52F3-AC78C73FE85A}"/>
                    </a:ext>
                  </a:extLst>
                </p14:cNvPr>
                <p14:cNvContentPartPr/>
                <p14:nvPr/>
              </p14:nvContentPartPr>
              <p14:xfrm>
                <a:off x="4206024" y="4727304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BEC2BAE-EF2B-2FB9-52F3-AC78C73FE8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97024" y="47186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3C6C394-7E77-0B8D-657C-094B84100470}"/>
                    </a:ext>
                  </a:extLst>
                </p14:cNvPr>
                <p14:cNvContentPartPr/>
                <p14:nvPr/>
              </p14:nvContentPartPr>
              <p14:xfrm>
                <a:off x="4106664" y="4773024"/>
                <a:ext cx="63360" cy="92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3C6C394-7E77-0B8D-657C-094B8410047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97664" y="4764024"/>
                  <a:ext cx="81000" cy="109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C397955-9FAD-338B-CB56-28C987366452}"/>
              </a:ext>
            </a:extLst>
          </p:cNvPr>
          <p:cNvSpPr txBox="1"/>
          <p:nvPr/>
        </p:nvSpPr>
        <p:spPr>
          <a:xfrm>
            <a:off x="1319022" y="4793738"/>
            <a:ext cx="1970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plotted: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265F09-E0BA-ABAC-9EB0-31DB9DFC7C44}"/>
              </a:ext>
            </a:extLst>
          </p:cNvPr>
          <p:cNvSpPr txBox="1"/>
          <p:nvPr/>
        </p:nvSpPr>
        <p:spPr>
          <a:xfrm>
            <a:off x="3325347" y="5812111"/>
            <a:ext cx="2146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Hyperbola forms.</a:t>
            </a:r>
          </a:p>
        </p:txBody>
      </p:sp>
    </p:spTree>
    <p:extLst>
      <p:ext uri="{BB962C8B-B14F-4D97-AF65-F5344CB8AC3E}">
        <p14:creationId xmlns:p14="http://schemas.microsoft.com/office/powerpoint/2010/main" val="3056233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B61166-B705-45F5-364A-1619946FD20E}"/>
              </a:ext>
            </a:extLst>
          </p:cNvPr>
          <p:cNvSpPr txBox="1"/>
          <p:nvPr/>
        </p:nvSpPr>
        <p:spPr>
          <a:xfrm>
            <a:off x="889254" y="546854"/>
            <a:ext cx="3380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Geometry Behind the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33A2EC-BA7B-FFDC-8F2B-346361278187}"/>
                  </a:ext>
                </a:extLst>
              </p:cNvPr>
              <p:cNvSpPr txBox="1"/>
              <p:nvPr/>
            </p:nvSpPr>
            <p:spPr>
              <a:xfrm>
                <a:off x="889254" y="1201204"/>
                <a:ext cx="609447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Suppose:</a:t>
                </a:r>
                <a:br>
                  <a:rPr lang="en-US" dirty="0"/>
                </a:b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target depth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target horizontal position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antenna current position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33A2EC-BA7B-FFDC-8F2B-346361278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54" y="1201204"/>
                <a:ext cx="6094476" cy="1477328"/>
              </a:xfrm>
              <a:prstGeom prst="rect">
                <a:avLst/>
              </a:prstGeom>
              <a:blipFill>
                <a:blip r:embed="rId2"/>
                <a:stretch>
                  <a:fillRect l="-900" t="-1653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A498C0-D2A8-8DC7-73F7-525EBBB151F0}"/>
                  </a:ext>
                </a:extLst>
              </p:cNvPr>
              <p:cNvSpPr txBox="1"/>
              <p:nvPr/>
            </p:nvSpPr>
            <p:spPr>
              <a:xfrm>
                <a:off x="889254" y="2963550"/>
                <a:ext cx="6094476" cy="2239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Travel time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Substitute: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>
                    <a:solidFill>
                      <a:srgbClr val="0070C0"/>
                    </a:solidFill>
                  </a:rPr>
                  <a:t>This is the hyperbola equation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A498C0-D2A8-8DC7-73F7-525EBBB15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54" y="2963550"/>
                <a:ext cx="6094476" cy="2239524"/>
              </a:xfrm>
              <a:prstGeom prst="rect">
                <a:avLst/>
              </a:prstGeom>
              <a:blipFill>
                <a:blip r:embed="rId3"/>
                <a:stretch>
                  <a:fillRect l="-900" t="-1087" b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3205F7E-ED6D-9863-099B-46BA04B00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649805"/>
              </p:ext>
            </p:extLst>
          </p:nvPr>
        </p:nvGraphicFramePr>
        <p:xfrm>
          <a:off x="6858000" y="2760828"/>
          <a:ext cx="4760976" cy="2194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80488">
                  <a:extLst>
                    <a:ext uri="{9D8B030D-6E8A-4147-A177-3AD203B41FA5}">
                      <a16:colId xmlns:a16="http://schemas.microsoft.com/office/drawing/2014/main" val="3156965240"/>
                    </a:ext>
                  </a:extLst>
                </a:gridCol>
                <a:gridCol w="2380488">
                  <a:extLst>
                    <a:ext uri="{9D8B030D-6E8A-4147-A177-3AD203B41FA5}">
                      <a16:colId xmlns:a16="http://schemas.microsoft.com/office/drawing/2014/main" val="36609771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32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antenna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757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(x_0)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 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12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 depth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907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wave velocity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80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(t(x))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reflection arrival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456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46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709621-251E-868B-1353-CFCC1FBE5A0A}"/>
              </a:ext>
            </a:extLst>
          </p:cNvPr>
          <p:cNvSpPr txBox="1"/>
          <p:nvPr/>
        </p:nvSpPr>
        <p:spPr>
          <a:xfrm>
            <a:off x="752856" y="3731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Physical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947B1-B1BD-1AE4-175C-D70CE19EC406}"/>
                  </a:ext>
                </a:extLst>
              </p:cNvPr>
              <p:cNvSpPr txBox="1"/>
              <p:nvPr/>
            </p:nvSpPr>
            <p:spPr>
              <a:xfrm>
                <a:off x="752856" y="1183346"/>
                <a:ext cx="7386066" cy="1997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When: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This is the top of hyperbola.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947B1-B1BD-1AE4-175C-D70CE19EC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56" y="1183346"/>
                <a:ext cx="7386066" cy="1997855"/>
              </a:xfrm>
              <a:prstGeom prst="rect">
                <a:avLst/>
              </a:prstGeom>
              <a:blipFill>
                <a:blip r:embed="rId2"/>
                <a:stretch>
                  <a:fillRect l="-743" t="-1220" b="-3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1B72BA3-ACC3-E0C2-629D-62A8AF766B38}"/>
              </a:ext>
            </a:extLst>
          </p:cNvPr>
          <p:cNvSpPr txBox="1"/>
          <p:nvPr/>
        </p:nvSpPr>
        <p:spPr>
          <a:xfrm>
            <a:off x="752856" y="742450"/>
            <a:ext cx="2063496" cy="369332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ysClr val="windowText" lastClr="000000"/>
                </a:solidFill>
              </a:rPr>
              <a:t>At center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723A05-09E5-991C-4A6C-852B43114E29}"/>
                  </a:ext>
                </a:extLst>
              </p:cNvPr>
              <p:cNvSpPr txBox="1"/>
              <p:nvPr/>
            </p:nvSpPr>
            <p:spPr>
              <a:xfrm>
                <a:off x="752856" y="3767328"/>
                <a:ext cx="6094476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increases.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Therefore: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travel time increases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hyperbola curves downward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723A05-09E5-991C-4A6C-852B43114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56" y="3767328"/>
                <a:ext cx="6094476" cy="1754326"/>
              </a:xfrm>
              <a:prstGeom prst="rect">
                <a:avLst/>
              </a:prstGeom>
              <a:blipFill>
                <a:blip r:embed="rId3"/>
                <a:stretch>
                  <a:fillRect l="-901" b="-4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BD4848D-DE85-82C1-107D-1E32C5A22C09}"/>
              </a:ext>
            </a:extLst>
          </p:cNvPr>
          <p:cNvSpPr txBox="1"/>
          <p:nvPr/>
        </p:nvSpPr>
        <p:spPr>
          <a:xfrm>
            <a:off x="752856" y="3244334"/>
            <a:ext cx="2429256" cy="369332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Away from center</a:t>
            </a:r>
          </a:p>
        </p:txBody>
      </p:sp>
    </p:spTree>
    <p:extLst>
      <p:ext uri="{BB962C8B-B14F-4D97-AF65-F5344CB8AC3E}">
        <p14:creationId xmlns:p14="http://schemas.microsoft.com/office/powerpoint/2010/main" val="4282149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9DAB2B-EFE3-FC78-5986-BEF0DADEBB25}"/>
                  </a:ext>
                </a:extLst>
              </p:cNvPr>
              <p:cNvSpPr txBox="1"/>
              <p:nvPr/>
            </p:nvSpPr>
            <p:spPr>
              <a:xfrm>
                <a:off x="748364" y="571438"/>
                <a:ext cx="609760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is Useful</a:t>
                </a:r>
                <a:b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endPara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Because if we detect the hyperbola:</a:t>
                </a:r>
              </a:p>
              <a:p>
                <a:pPr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can estimate: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depth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target location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possibly velocity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9DAB2B-EFE3-FC78-5986-BEF0DADEB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64" y="571438"/>
                <a:ext cx="6097604" cy="2308324"/>
              </a:xfrm>
              <a:prstGeom prst="rect">
                <a:avLst/>
              </a:prstGeom>
              <a:blipFill>
                <a:blip r:embed="rId2"/>
                <a:stretch>
                  <a:fillRect l="-900" t="-1587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C516F11-FFB5-2F45-8A66-4279BD4BA4D4}"/>
              </a:ext>
            </a:extLst>
          </p:cNvPr>
          <p:cNvSpPr txBox="1"/>
          <p:nvPr/>
        </p:nvSpPr>
        <p:spPr>
          <a:xfrm>
            <a:off x="854242" y="3239575"/>
            <a:ext cx="6097604" cy="147732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Known B-scan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↓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Fit hyperbola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↓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Estimate target depth</a:t>
            </a:r>
          </a:p>
        </p:txBody>
      </p:sp>
    </p:spTree>
    <p:extLst>
      <p:ext uri="{BB962C8B-B14F-4D97-AF65-F5344CB8AC3E}">
        <p14:creationId xmlns:p14="http://schemas.microsoft.com/office/powerpoint/2010/main" val="3051022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3DFE15-45CD-C1BB-0B3C-B1CED4A01C0D}"/>
              </a:ext>
            </a:extLst>
          </p:cNvPr>
          <p:cNvSpPr txBox="1"/>
          <p:nvPr/>
        </p:nvSpPr>
        <p:spPr>
          <a:xfrm>
            <a:off x="892743" y="551667"/>
            <a:ext cx="335199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Hyperbola Fitting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5A6D7B-CAE2-A170-9E93-B41F87D1CBE8}"/>
                  </a:ext>
                </a:extLst>
              </p:cNvPr>
              <p:cNvSpPr txBox="1"/>
              <p:nvPr/>
            </p:nvSpPr>
            <p:spPr>
              <a:xfrm>
                <a:off x="892743" y="1034005"/>
                <a:ext cx="6047072" cy="4767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 1 — Detect bright reflection points</a:t>
                </a:r>
              </a:p>
              <a:p>
                <a:pPr>
                  <a:buNone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 B-scan.</a:t>
                </a:r>
              </a:p>
              <a:p>
                <a:pPr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 2 — Extract curve points</a:t>
                </a:r>
              </a:p>
              <a:p>
                <a:pPr>
                  <a:buNone/>
                </a:pPr>
                <a:endPara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rtl="0">
                  <a:buNone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(x1,t1)</a:t>
                </a:r>
                <a:b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(x2,t2)</a:t>
                </a:r>
                <a:b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(x3,t3)</a:t>
                </a:r>
              </a:p>
              <a:p>
                <a:pPr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 3 — Fit equation</a:t>
                </a:r>
              </a:p>
              <a:p>
                <a:pPr>
                  <a:buNone/>
                </a:pPr>
                <a:endPara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b="0" i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  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 best match: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5A6D7B-CAE2-A170-9E93-B41F87D1C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43" y="1034005"/>
                <a:ext cx="6047072" cy="4767844"/>
              </a:xfrm>
              <a:prstGeom prst="rect">
                <a:avLst/>
              </a:prstGeom>
              <a:blipFill>
                <a:blip r:embed="rId2"/>
                <a:stretch>
                  <a:fillRect l="-806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2B959-7204-053E-8DDD-1313DE8A1B94}"/>
                  </a:ext>
                </a:extLst>
              </p:cNvPr>
              <p:cNvSpPr txBox="1"/>
              <p:nvPr/>
            </p:nvSpPr>
            <p:spPr>
              <a:xfrm>
                <a:off x="7097829" y="1696965"/>
                <a:ext cx="4949792" cy="187109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Optimization Concept:</a:t>
                </a:r>
                <a:b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endParaRPr lang="en-U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minimize error: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Error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𝑚𝑒𝑎𝑠𝑢𝑟𝑒𝑑</m:t>
                              </m:r>
                            </m:sub>
                          </m:sSub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buNone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Best fit → estimated depth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2B959-7204-053E-8DDD-1313DE8A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829" y="1696965"/>
                <a:ext cx="4949792" cy="1871090"/>
              </a:xfrm>
              <a:prstGeom prst="rect">
                <a:avLst/>
              </a:prstGeom>
              <a:blipFill>
                <a:blip r:embed="rId3"/>
                <a:stretch>
                  <a:fillRect l="-985" t="-1629" b="-4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2215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1C27E8-CA3B-2FDA-F19A-CACF63DFA216}"/>
              </a:ext>
            </a:extLst>
          </p:cNvPr>
          <p:cNvSpPr txBox="1"/>
          <p:nvPr/>
        </p:nvSpPr>
        <p:spPr>
          <a:xfrm>
            <a:off x="247850" y="907232"/>
            <a:ext cx="113505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Physical Meaning</a:t>
            </a: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hyperbola contains hidden information about: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Propagation velocity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Dielectric properties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D6A2C-9698-67A7-80A6-563B45DA3F00}"/>
              </a:ext>
            </a:extLst>
          </p:cNvPr>
          <p:cNvSpPr txBox="1"/>
          <p:nvPr/>
        </p:nvSpPr>
        <p:spPr>
          <a:xfrm>
            <a:off x="584735" y="3068127"/>
            <a:ext cx="11013707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“The hyperbolic response in the B-scan arises because the propagation distance between the antenna and buried object changes with antenna position. By fitting the analytical hyperbola equation to the measured B-scan response, the target depth and position can be estimated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35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366</Words>
  <Application>Microsoft Office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Nifrash</dc:creator>
  <cp:lastModifiedBy>Mohamed Nifrash | محمد نيفراش</cp:lastModifiedBy>
  <cp:revision>2</cp:revision>
  <dcterms:created xsi:type="dcterms:W3CDTF">2026-06-07T07:50:54Z</dcterms:created>
  <dcterms:modified xsi:type="dcterms:W3CDTF">2026-06-09T02:43:38Z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9be935f-202b-4556-83e6-b136e71ce33b_Enabled">
    <vt:lpwstr>true</vt:lpwstr>
  </property>
  <property fmtid="{D5CDD505-2E9C-101B-9397-08002B2CF9AE}" pid="3" name="MSIP_Label_f9be935f-202b-4556-83e6-b136e71ce33b_SetDate">
    <vt:lpwstr>2026-06-07T08:27:16Z</vt:lpwstr>
  </property>
  <property fmtid="{D5CDD505-2E9C-101B-9397-08002B2CF9AE}" pid="4" name="MSIP_Label_f9be935f-202b-4556-83e6-b136e71ce33b_Method">
    <vt:lpwstr>Privileged</vt:lpwstr>
  </property>
  <property fmtid="{D5CDD505-2E9C-101B-9397-08002B2CF9AE}" pid="5" name="MSIP_Label_f9be935f-202b-4556-83e6-b136e71ce33b_Name">
    <vt:lpwstr>Restricted</vt:lpwstr>
  </property>
  <property fmtid="{D5CDD505-2E9C-101B-9397-08002B2CF9AE}" pid="6" name="MSIP_Label_f9be935f-202b-4556-83e6-b136e71ce33b_SiteId">
    <vt:lpwstr>1b589bdd-af9b-40f9-af14-7df27f6b4206</vt:lpwstr>
  </property>
  <property fmtid="{D5CDD505-2E9C-101B-9397-08002B2CF9AE}" pid="7" name="MSIP_Label_f9be935f-202b-4556-83e6-b136e71ce33b_ActionId">
    <vt:lpwstr>2d11b81b-5fe7-4ee0-b3fc-bd7d5fe2e1cc</vt:lpwstr>
  </property>
  <property fmtid="{D5CDD505-2E9C-101B-9397-08002B2CF9AE}" pid="8" name="MSIP_Label_f9be935f-202b-4556-83e6-b136e71ce33b_ContentBits">
    <vt:lpwstr>3</vt:lpwstr>
  </property>
  <property fmtid="{D5CDD505-2E9C-101B-9397-08002B2CF9AE}" pid="9" name="MSIP_Label_f9be935f-202b-4556-83e6-b136e71ce33b_Tag">
    <vt:lpwstr>10, 0, 1, 1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Restricted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This Email / Document has been classified as Restricted by Mohamed Nifrash</vt:lpwstr>
  </property>
</Properties>
</file>